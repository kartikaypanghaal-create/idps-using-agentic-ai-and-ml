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8" r:id="rId5"/>
    <p:sldId id="259" r:id="rId6"/>
    <p:sldId id="269" r:id="rId7"/>
    <p:sldId id="260" r:id="rId8"/>
    <p:sldId id="262" r:id="rId9"/>
    <p:sldId id="261" r:id="rId10"/>
    <p:sldId id="270" r:id="rId11"/>
    <p:sldId id="271" r:id="rId12"/>
    <p:sldId id="272" r:id="rId13"/>
    <p:sldId id="273" r:id="rId14"/>
    <p:sldId id="266" r:id="rId15"/>
    <p:sldId id="267" r:id="rId16"/>
    <p:sldId id="263"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B2EA575-0560-4EBC-AD65-A546BB5C467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184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095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4790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3847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FACB4A-C46D-47C8-95BF-463F9F428625}" type="datetimeFigureOut">
              <a:rPr lang="en-IN" smtClean="0"/>
              <a:t>15-02-2026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2EA575-0560-4EBC-AD65-A546BB5C467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53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FACB4A-C46D-47C8-95BF-463F9F428625}" type="datetimeFigureOut">
              <a:rPr lang="en-IN" smtClean="0"/>
              <a:t>15-02-2026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8461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ACB4A-C46D-47C8-95BF-463F9F428625}" type="datetimeFigureOut">
              <a:rPr lang="en-IN" smtClean="0"/>
              <a:t>15-02-2026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6119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2901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7FACB4A-C46D-47C8-95BF-463F9F428625}" type="datetimeFigureOut">
              <a:rPr lang="en-IN" smtClean="0"/>
              <a:t>15-02-2026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728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264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6478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7FACB4A-C46D-47C8-95BF-463F9F428625}" type="datetimeFigureOut">
              <a:rPr lang="en-IN" smtClean="0"/>
              <a:t>15-02-2026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B2EA575-0560-4EBC-AD65-A546BB5C467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324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2230120" y="2481529"/>
            <a:ext cx="9144000" cy="978194"/>
          </a:xfrm>
        </p:spPr>
        <p:txBody>
          <a:bodyPr>
            <a:normAutofit/>
          </a:bodyPr>
          <a:lstStyle/>
          <a:p>
            <a:r>
              <a:rPr lang="en-US" sz="2400" dirty="0"/>
              <a:t>Intrusion Detection and Prevention System (IDPS)</a:t>
            </a:r>
            <a:endParaRPr lang="en-IN" sz="2400"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163771" y="4259278"/>
            <a:ext cx="3239387" cy="1222744"/>
          </a:xfrm>
        </p:spPr>
        <p:txBody>
          <a:bodyPr>
            <a:normAutofit fontScale="25000" lnSpcReduction="20000"/>
          </a:bodyPr>
          <a:lstStyle/>
          <a:p>
            <a:r>
              <a:rPr lang="en-IN" sz="4800" dirty="0"/>
              <a:t>Submitted By:</a:t>
            </a:r>
            <a:br>
              <a:rPr lang="en-IN" sz="4800" dirty="0"/>
            </a:br>
            <a:endParaRPr lang="en-IN" sz="4800" dirty="0"/>
          </a:p>
          <a:p>
            <a:r>
              <a:rPr lang="en-IN" sz="4800" dirty="0"/>
              <a:t>ANMOL SIKKA</a:t>
            </a:r>
          </a:p>
          <a:p>
            <a:r>
              <a:rPr lang="en-IN" sz="4800" dirty="0"/>
              <a:t>23FE10CSE00181</a:t>
            </a:r>
          </a:p>
          <a:p>
            <a:r>
              <a:rPr lang="en-IN" sz="4800" dirty="0"/>
              <a:t>KARTIKAYY PANGHAAL</a:t>
            </a:r>
          </a:p>
          <a:p>
            <a:r>
              <a:rPr lang="en-IN" sz="4800" dirty="0"/>
              <a:t>23FE10CSE00196</a:t>
            </a:r>
          </a:p>
          <a:p>
            <a:endParaRPr lang="en-IN" dirty="0"/>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200" dirty="0"/>
              <a:t>Supervised By:</a:t>
            </a:r>
            <a:br>
              <a:rPr lang="en-IN" sz="1200" dirty="0"/>
            </a:br>
            <a:r>
              <a:rPr lang="en-IN" sz="1200" dirty="0"/>
              <a:t>Dr Gireesh Kumar</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fontScale="85000" lnSpcReduction="20000"/>
          </a:bodyPr>
          <a:lstStyle/>
          <a:p>
            <a:pPr marL="0" indent="0">
              <a:buNone/>
            </a:pPr>
            <a:r>
              <a:rPr lang="en-US" dirty="0"/>
              <a:t>The rapid expansion of the internet has fundamentally changed how we handle security. We are no longer just protecting individual computers; we are defending an entire ecosystem of cloud services, IoT devices, and web-based platforms. As this digital landscape grows, so does the attack surface. Today’s attackers rarely use a single method; instead, they employ "blended" strategies. For example, a breach might begin with a simple phishing URL that looks harmless but serves as the gateway for a sophisticated network-level intrusion</a:t>
            </a:r>
          </a:p>
          <a:p>
            <a:pPr marL="0" indent="0">
              <a:buNone/>
            </a:pPr>
            <a:r>
              <a:rPr lang="en-US" dirty="0"/>
              <a:t>The problem we face today is that our defenses are fragmented. Traditional Network Intrusion Detection Systems (NIDS) are excellent at spotting traffic anomalies, but they are often too heavy for real-time use and suffer from high false-alarm rates. On the other hand, standard URL filters rely almost entirely on static blacklists. This means they are effectively blind to "Zero-Day" threats or clever evasion tactics like domain mimicry and URL shortening. There is a significant gap between high-performance academic models and systems that are actually practical and easy for a human user to understand</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8196-A1F7-C3AA-9733-A14DB2A5A3B7}"/>
              </a:ext>
            </a:extLst>
          </p:cNvPr>
          <p:cNvSpPr>
            <a:spLocks noGrp="1"/>
          </p:cNvSpPr>
          <p:nvPr>
            <p:ph type="title"/>
          </p:nvPr>
        </p:nvSpPr>
        <p:spPr/>
        <p:txBody>
          <a:bodyPr/>
          <a:lstStyle/>
          <a:p>
            <a:r>
              <a:rPr lang="en-US" dirty="0"/>
              <a:t>Our Approach: A Unified, Hybrid Defense</a:t>
            </a:r>
          </a:p>
        </p:txBody>
      </p:sp>
      <p:sp>
        <p:nvSpPr>
          <p:cNvPr id="3" name="Content Placeholder 2">
            <a:extLst>
              <a:ext uri="{FF2B5EF4-FFF2-40B4-BE49-F238E27FC236}">
                <a16:creationId xmlns:a16="http://schemas.microsoft.com/office/drawing/2014/main" id="{CD91089E-C066-49DE-532D-E3B9A9546556}"/>
              </a:ext>
            </a:extLst>
          </p:cNvPr>
          <p:cNvSpPr>
            <a:spLocks noGrp="1"/>
          </p:cNvSpPr>
          <p:nvPr>
            <p:ph idx="1"/>
          </p:nvPr>
        </p:nvSpPr>
        <p:spPr>
          <a:xfrm>
            <a:off x="852139" y="2081772"/>
            <a:ext cx="9603275" cy="3450613"/>
          </a:xfrm>
        </p:spPr>
        <p:txBody>
          <a:bodyPr>
            <a:normAutofit fontScale="85000" lnSpcReduction="10000"/>
          </a:bodyPr>
          <a:lstStyle/>
          <a:p>
            <a:r>
              <a:rPr lang="en-US" dirty="0"/>
              <a:t>To bridge this gap, my research proposes a hybrid framework that brings these two worlds together: a machine learning-based NIDS and a lightweight URL safety scanner. This dual-layered approach is designed for the real world. The NIDS module uses ensemble classification to recognize complex attack patterns within network data. Meanwhile, the URL scanner focuses on lexical and domain-level indicators, providing an instant safety verdict without the risk of actually executing harmful web content.</a:t>
            </a:r>
          </a:p>
          <a:p>
            <a:r>
              <a:rPr lang="en-US" dirty="0"/>
              <a:t>The ultimate goal of this project is to move away from purely theoretical experiments and toward a deployment-ready application. By prioritizing usability and low-latency performance, this framework provides a scalable solution that can eventually be integrated directly into a browser extension. This ensures that protection isn't just something happening in the background—it’s providing immediate, interpretable alerts to keep users safe while they browse</a:t>
            </a:r>
          </a:p>
        </p:txBody>
      </p:sp>
    </p:spTree>
    <p:extLst>
      <p:ext uri="{BB962C8B-B14F-4D97-AF65-F5344CB8AC3E}">
        <p14:creationId xmlns:p14="http://schemas.microsoft.com/office/powerpoint/2010/main" val="3620098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908019" y="1980172"/>
            <a:ext cx="9603275" cy="3450613"/>
          </a:xfrm>
        </p:spPr>
        <p:txBody>
          <a:bodyPr/>
          <a:lstStyle/>
          <a:p>
            <a:pPr marL="0" indent="0">
              <a:buNone/>
            </a:pPr>
            <a:r>
              <a:rPr lang="en-US" dirty="0"/>
              <a:t>.</a:t>
            </a:r>
          </a:p>
        </p:txBody>
      </p:sp>
      <p:sp>
        <p:nvSpPr>
          <p:cNvPr id="7" name="TextBox 6">
            <a:extLst>
              <a:ext uri="{FF2B5EF4-FFF2-40B4-BE49-F238E27FC236}">
                <a16:creationId xmlns:a16="http://schemas.microsoft.com/office/drawing/2014/main" id="{08772572-879F-C76E-FF1F-DEF4D55F7BCF}"/>
              </a:ext>
            </a:extLst>
          </p:cNvPr>
          <p:cNvSpPr txBox="1"/>
          <p:nvPr/>
        </p:nvSpPr>
        <p:spPr>
          <a:xfrm>
            <a:off x="1325880" y="1912818"/>
            <a:ext cx="8908786" cy="3416320"/>
          </a:xfrm>
          <a:prstGeom prst="rect">
            <a:avLst/>
          </a:prstGeom>
          <a:noFill/>
        </p:spPr>
        <p:txBody>
          <a:bodyPr wrap="square">
            <a:spAutoFit/>
          </a:bodyPr>
          <a:lstStyle/>
          <a:p>
            <a:r>
              <a:rPr lang="en-US" dirty="0"/>
              <a:t>Historically, protecting a network relied on matching traffic against a database of known threats. However, as attacks became more diverse—especially with the rise of IoT and cloud computing—research shifted toward machine learning to spot "anomaly-based" intrusions that don't have a signature yet. Influential surveys, such as those by Buczak and Guven, have shown that supervised models like Random Forest and SVM can achieve high accuracy compared to purely rule-based systems</a:t>
            </a:r>
          </a:p>
          <a:p>
            <a:r>
              <a:rPr lang="en-US" dirty="0"/>
              <a:t>Despite these technical gains, a major theme in recent literature is the "deployment gap". Most academic research relies heavily on offline benchmark datasets like NSL-KDD, but these models often struggle to generalize when faced with the messy, high-speed reality of live network traffic. Furthermore, while Deep Learning models (like CNNs or LSTMs) can learn complex patterns, they are often criticized for being "black boxes" that require immense computational power, making them impractical for lightweight or edge environments</a:t>
            </a: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B611-549F-57F3-82F6-55E0D5D513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D68FB6-3A9C-6877-2194-4D5A96ABE0F0}"/>
              </a:ext>
            </a:extLst>
          </p:cNvPr>
          <p:cNvSpPr>
            <a:spLocks noGrp="1"/>
          </p:cNvSpPr>
          <p:nvPr>
            <p:ph idx="1"/>
          </p:nvPr>
        </p:nvSpPr>
        <p:spPr>
          <a:xfrm>
            <a:off x="714979" y="2112252"/>
            <a:ext cx="9603275" cy="3450613"/>
          </a:xfrm>
        </p:spPr>
        <p:txBody>
          <a:bodyPr>
            <a:normAutofit fontScale="85000" lnSpcReduction="10000"/>
          </a:bodyPr>
          <a:lstStyle/>
          <a:p>
            <a:r>
              <a:rPr lang="en-US" dirty="0"/>
              <a:t>While NIDS focuses on what is happening within the network, we cannot ignore how these threats start. A significant portion of modern breaches begin at the application layer, specifically through malicious links. Research by Joshi et al. and Sahoo et al. has demonstrated that lexical analysis—looking at the structure of a URL rather than its content—is the most effective way to provide low-latency protection. This method allows us to detect "Zero-Day" phishing links that haven't been added to a blacklist yet.</a:t>
            </a:r>
          </a:p>
          <a:p>
            <a:r>
              <a:rPr lang="en-US" dirty="0"/>
              <a:t>The current "research gap" that this project addresses is the lack of integration. Most existing studies treat network intrusions and malicious URLs as separate problems. By combining a Random Forest-based NIDS with a fast, lexical-driven URL scanner, we move away from isolated, computationally heavy models toward a unified, "human-interpretable" framework. This hybrid approach ensures that security is both proactive at the entry point and resilient at the network level, all while remaining efficient enough for real-time deployment</a:t>
            </a:r>
          </a:p>
        </p:txBody>
      </p:sp>
    </p:spTree>
    <p:extLst>
      <p:ext uri="{BB962C8B-B14F-4D97-AF65-F5344CB8AC3E}">
        <p14:creationId xmlns:p14="http://schemas.microsoft.com/office/powerpoint/2010/main" val="3671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709899" y="1995412"/>
            <a:ext cx="9603275" cy="3450613"/>
          </a:xfrm>
        </p:spPr>
        <p:txBody>
          <a:bodyPr/>
          <a:lstStyle/>
          <a:p>
            <a:pPr marL="0" indent="0">
              <a:buNone/>
            </a:pPr>
            <a:r>
              <a:rPr lang="en-US" dirty="0"/>
              <a:t>Modern cybersecurity is plagued by a </a:t>
            </a:r>
            <a:r>
              <a:rPr lang="en-US" b="1" dirty="0"/>
              <a:t>fragmentation of defenses</a:t>
            </a:r>
            <a:r>
              <a:rPr lang="en-US" dirty="0"/>
              <a:t>, where network-level monitoring (NIDS) and application-layer URL filtering operate in silos, failing to stop integrated "blended" attacks. Existing academic models, while accurate, are often too </a:t>
            </a:r>
            <a:r>
              <a:rPr lang="en-US" b="1" dirty="0"/>
              <a:t>computationally expensive</a:t>
            </a:r>
            <a:r>
              <a:rPr lang="en-US" dirty="0"/>
              <a:t> and lack the interpretability required for real-time, user-centric deployment. Consequently, there is an urgent need for a </a:t>
            </a:r>
            <a:r>
              <a:rPr lang="en-US" b="1" dirty="0"/>
              <a:t>unified, low-latency framework</a:t>
            </a:r>
            <a:r>
              <a:rPr lang="en-US" dirty="0"/>
              <a:t> that bridges this gap by combining proactive URL risk scoring with high-speed network intrusion detection.</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a:xfrm>
            <a:off x="908546" y="2120454"/>
            <a:ext cx="9603275" cy="3886646"/>
          </a:xfrm>
        </p:spPr>
        <p:txBody>
          <a:bodyPr>
            <a:normAutofit fontScale="85000" lnSpcReduction="10000"/>
          </a:bodyPr>
          <a:lstStyle/>
          <a:p>
            <a:pPr marL="0" indent="0">
              <a:buNone/>
            </a:pPr>
            <a:r>
              <a:rPr lang="en-US" b="1" dirty="0"/>
              <a:t>Integrated Hybrid Defense</a:t>
            </a:r>
            <a:r>
              <a:rPr lang="en-US" dirty="0"/>
              <a:t>: To develop a unified framework that bridges the gap between network-level monitoring and application-layer safety by integrating a machine learning-based NIDS with a proactive URL scanner</a:t>
            </a:r>
          </a:p>
          <a:p>
            <a:pPr marL="0" indent="0">
              <a:buNone/>
            </a:pPr>
            <a:r>
              <a:rPr lang="en-US" b="1" dirty="0"/>
              <a:t>Low-Latency Real-Time Protection</a:t>
            </a:r>
            <a:r>
              <a:rPr lang="en-US" dirty="0"/>
              <a:t>: To prioritize computational efficiency and speed, ensuring the system can provide instant threat verdicts without the performance delays or risks associated with traditional content-based execution</a:t>
            </a:r>
          </a:p>
          <a:p>
            <a:pPr marL="0" indent="0">
              <a:buNone/>
            </a:pPr>
            <a:r>
              <a:rPr lang="en-US" b="1" dirty="0"/>
              <a:t>Shift to Deployment Readiness</a:t>
            </a:r>
            <a:r>
              <a:rPr lang="en-US" dirty="0"/>
              <a:t>: To move beyond theoretical academic modeling by implementing an interactive, deployable application capable of handling both bulk file analysis and real-time URL scanning within a single interface</a:t>
            </a:r>
          </a:p>
          <a:p>
            <a:pPr marL="0" indent="0">
              <a:buNone/>
            </a:pPr>
            <a:r>
              <a:rPr lang="en-US" b="1" dirty="0"/>
              <a:t>enhanced User-Centric Security</a:t>
            </a:r>
            <a:r>
              <a:rPr lang="en-US" dirty="0"/>
              <a:t>: To create a scalable and interpretable solution designed for practical use, with the potential for extension into a live Chrome extension for continuous web browsing protection</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75E2B-CACA-478C-B26B-182AF87A1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50FF2874-547C-4D14-9E18-28B19002FB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36CF827D-A163-47F7-BD87-34EB4FA7D6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299D9A9-1DA8-433D-A9BC-FB48D93D4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dirty="0"/>
              <a:t>Proposed Methodology </a:t>
            </a:r>
          </a:p>
        </p:txBody>
      </p:sp>
      <p:pic>
        <p:nvPicPr>
          <p:cNvPr id="5" name="Image 0" descr="preencoded.png">
            <a:extLst>
              <a:ext uri="{FF2B5EF4-FFF2-40B4-BE49-F238E27FC236}">
                <a16:creationId xmlns:a16="http://schemas.microsoft.com/office/drawing/2014/main" id="{93F98D18-829E-A8B9-E30A-57CD9363CD23}"/>
              </a:ext>
            </a:extLst>
          </p:cNvPr>
          <p:cNvPicPr>
            <a:picLocks noChangeAspect="1"/>
          </p:cNvPicPr>
          <p:nvPr/>
        </p:nvPicPr>
        <p:blipFill>
          <a:blip r:embed="rId3"/>
          <a:stretch>
            <a:fillRect/>
          </a:stretch>
        </p:blipFill>
        <p:spPr>
          <a:xfrm>
            <a:off x="1451579" y="2015732"/>
            <a:ext cx="9201637" cy="3450613"/>
          </a:xfrm>
          <a:prstGeom prst="rect">
            <a:avLst/>
          </a:prstGeom>
        </p:spPr>
      </p:pic>
      <p:sp>
        <p:nvSpPr>
          <p:cNvPr id="7" name="TextBox 6">
            <a:extLst>
              <a:ext uri="{FF2B5EF4-FFF2-40B4-BE49-F238E27FC236}">
                <a16:creationId xmlns:a16="http://schemas.microsoft.com/office/drawing/2014/main" id="{BA9520F4-0221-2A11-40F1-2CAE6DF916F9}"/>
              </a:ext>
            </a:extLst>
          </p:cNvPr>
          <p:cNvSpPr txBox="1"/>
          <p:nvPr/>
        </p:nvSpPr>
        <p:spPr>
          <a:xfrm>
            <a:off x="1221246" y="4223483"/>
            <a:ext cx="2595914" cy="310406"/>
          </a:xfrm>
          <a:prstGeom prst="rect">
            <a:avLst/>
          </a:prstGeom>
          <a:noFill/>
        </p:spPr>
        <p:txBody>
          <a:bodyPr wrap="square">
            <a:spAutoFit/>
          </a:bodyPr>
          <a:lstStyle/>
          <a:p>
            <a:pPr marL="0" indent="0" algn="ctr">
              <a:lnSpc>
                <a:spcPts val="1650"/>
              </a:lnSpc>
              <a:buNone/>
            </a:pPr>
            <a:r>
              <a:rPr lang="en-US" sz="1800" dirty="0">
                <a:solidFill>
                  <a:srgbClr val="504C49"/>
                </a:solidFill>
                <a:latin typeface="Platypi Medium" pitchFamily="34" charset="0"/>
                <a:ea typeface="Platypi Medium" pitchFamily="34" charset="-122"/>
                <a:cs typeface="Platypi Medium" pitchFamily="34" charset="-120"/>
              </a:rPr>
              <a:t>Dataset</a:t>
            </a:r>
            <a:endParaRPr lang="en-US" sz="1800" dirty="0"/>
          </a:p>
        </p:txBody>
      </p:sp>
      <p:sp>
        <p:nvSpPr>
          <p:cNvPr id="9" name="TextBox 8">
            <a:extLst>
              <a:ext uri="{FF2B5EF4-FFF2-40B4-BE49-F238E27FC236}">
                <a16:creationId xmlns:a16="http://schemas.microsoft.com/office/drawing/2014/main" id="{709ACD72-1C73-D4EA-5B75-096B58686A21}"/>
              </a:ext>
            </a:extLst>
          </p:cNvPr>
          <p:cNvSpPr txBox="1"/>
          <p:nvPr/>
        </p:nvSpPr>
        <p:spPr>
          <a:xfrm>
            <a:off x="3045955" y="4223483"/>
            <a:ext cx="6100090" cy="310406"/>
          </a:xfrm>
          <a:prstGeom prst="rect">
            <a:avLst/>
          </a:prstGeom>
          <a:noFill/>
        </p:spPr>
        <p:txBody>
          <a:bodyPr wrap="square">
            <a:spAutoFit/>
          </a:bodyPr>
          <a:lstStyle/>
          <a:p>
            <a:pPr algn="ctr">
              <a:lnSpc>
                <a:spcPts val="1650"/>
              </a:lnSpc>
            </a:pPr>
            <a:r>
              <a:rPr lang="en-US" dirty="0">
                <a:solidFill>
                  <a:srgbClr val="504C49"/>
                </a:solidFill>
                <a:latin typeface="Platypi Medium" pitchFamily="34" charset="0"/>
                <a:ea typeface="Platypi Medium" pitchFamily="34" charset="-122"/>
                <a:cs typeface="Platypi Medium" pitchFamily="34" charset="-120"/>
              </a:rPr>
              <a:t>Model Training</a:t>
            </a:r>
            <a:endParaRPr lang="en-US" dirty="0"/>
          </a:p>
        </p:txBody>
      </p:sp>
      <p:sp>
        <p:nvSpPr>
          <p:cNvPr id="13" name="TextBox 12">
            <a:extLst>
              <a:ext uri="{FF2B5EF4-FFF2-40B4-BE49-F238E27FC236}">
                <a16:creationId xmlns:a16="http://schemas.microsoft.com/office/drawing/2014/main" id="{AEDB8A65-42EF-15E4-63F6-812D819015F6}"/>
              </a:ext>
            </a:extLst>
          </p:cNvPr>
          <p:cNvSpPr txBox="1"/>
          <p:nvPr/>
        </p:nvSpPr>
        <p:spPr>
          <a:xfrm>
            <a:off x="1221246" y="4222420"/>
            <a:ext cx="6100090" cy="310406"/>
          </a:xfrm>
          <a:prstGeom prst="rect">
            <a:avLst/>
          </a:prstGeom>
          <a:noFill/>
        </p:spPr>
        <p:txBody>
          <a:bodyPr wrap="square">
            <a:spAutoFit/>
          </a:bodyPr>
          <a:lstStyle/>
          <a:p>
            <a:pPr marL="0" indent="0" algn="ctr">
              <a:lnSpc>
                <a:spcPts val="1650"/>
              </a:lnSpc>
              <a:buNone/>
            </a:pPr>
            <a:r>
              <a:rPr lang="en-US" sz="1800" dirty="0">
                <a:solidFill>
                  <a:srgbClr val="504C49"/>
                </a:solidFill>
                <a:latin typeface="Platypi Medium" pitchFamily="34" charset="0"/>
                <a:ea typeface="Platypi Medium" pitchFamily="34" charset="-122"/>
                <a:cs typeface="Platypi Medium" pitchFamily="34" charset="-120"/>
              </a:rPr>
              <a:t>Preprocessing</a:t>
            </a:r>
            <a:endParaRPr lang="en-US" sz="1800" dirty="0"/>
          </a:p>
        </p:txBody>
      </p:sp>
      <p:sp>
        <p:nvSpPr>
          <p:cNvPr id="17" name="TextBox 16">
            <a:extLst>
              <a:ext uri="{FF2B5EF4-FFF2-40B4-BE49-F238E27FC236}">
                <a16:creationId xmlns:a16="http://schemas.microsoft.com/office/drawing/2014/main" id="{69BAFC9A-12BF-1BDA-BEED-5DDB636BB253}"/>
              </a:ext>
            </a:extLst>
          </p:cNvPr>
          <p:cNvSpPr txBox="1"/>
          <p:nvPr/>
        </p:nvSpPr>
        <p:spPr>
          <a:xfrm>
            <a:off x="4793953" y="4227023"/>
            <a:ext cx="6100090" cy="310406"/>
          </a:xfrm>
          <a:prstGeom prst="rect">
            <a:avLst/>
          </a:prstGeom>
          <a:noFill/>
        </p:spPr>
        <p:txBody>
          <a:bodyPr wrap="square">
            <a:spAutoFit/>
          </a:bodyPr>
          <a:lstStyle/>
          <a:p>
            <a:pPr marL="0" indent="0" algn="ctr">
              <a:lnSpc>
                <a:spcPts val="1650"/>
              </a:lnSpc>
              <a:buNone/>
            </a:pPr>
            <a:r>
              <a:rPr lang="en-US" sz="1800" dirty="0">
                <a:solidFill>
                  <a:srgbClr val="504C49"/>
                </a:solidFill>
                <a:latin typeface="Platypi Medium" pitchFamily="34" charset="0"/>
                <a:ea typeface="Platypi Medium" pitchFamily="34" charset="-122"/>
                <a:cs typeface="Platypi Medium" pitchFamily="34" charset="-120"/>
              </a:rPr>
              <a:t>Evaluation</a:t>
            </a:r>
            <a:endParaRPr lang="en-US" sz="1800" dirty="0"/>
          </a:p>
        </p:txBody>
      </p:sp>
      <p:sp>
        <p:nvSpPr>
          <p:cNvPr id="19" name="TextBox 18">
            <a:extLst>
              <a:ext uri="{FF2B5EF4-FFF2-40B4-BE49-F238E27FC236}">
                <a16:creationId xmlns:a16="http://schemas.microsoft.com/office/drawing/2014/main" id="{27822B86-AC43-A76C-87D4-2BFAC15820D5}"/>
              </a:ext>
            </a:extLst>
          </p:cNvPr>
          <p:cNvSpPr txBox="1"/>
          <p:nvPr/>
        </p:nvSpPr>
        <p:spPr>
          <a:xfrm>
            <a:off x="6541951" y="4254167"/>
            <a:ext cx="6100090" cy="310406"/>
          </a:xfrm>
          <a:prstGeom prst="rect">
            <a:avLst/>
          </a:prstGeom>
          <a:noFill/>
        </p:spPr>
        <p:txBody>
          <a:bodyPr wrap="square">
            <a:spAutoFit/>
          </a:bodyPr>
          <a:lstStyle/>
          <a:p>
            <a:pPr marL="0" indent="0" algn="ctr">
              <a:lnSpc>
                <a:spcPts val="1650"/>
              </a:lnSpc>
              <a:buNone/>
            </a:pPr>
            <a:r>
              <a:rPr lang="en-US" sz="1800" dirty="0">
                <a:solidFill>
                  <a:srgbClr val="504C49"/>
                </a:solidFill>
                <a:latin typeface="Platypi Medium" pitchFamily="34" charset="0"/>
                <a:ea typeface="Platypi Medium" pitchFamily="34" charset="-122"/>
                <a:cs typeface="Platypi Medium" pitchFamily="34" charset="-120"/>
              </a:rPr>
              <a:t>Deployment</a:t>
            </a:r>
            <a:endParaRPr lang="en-US" sz="1800" dirty="0"/>
          </a:p>
        </p:txBody>
      </p:sp>
    </p:spTree>
    <p:extLst>
      <p:ext uri="{BB962C8B-B14F-4D97-AF65-F5344CB8AC3E}">
        <p14:creationId xmlns:p14="http://schemas.microsoft.com/office/powerpoint/2010/main" val="107772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B7F7-EDE5-E18B-27C8-119985A4B7C0}"/>
              </a:ext>
            </a:extLst>
          </p:cNvPr>
          <p:cNvSpPr>
            <a:spLocks noGrp="1"/>
          </p:cNvSpPr>
          <p:nvPr>
            <p:ph type="title"/>
          </p:nvPr>
        </p:nvSpPr>
        <p:spPr/>
        <p:txBody>
          <a:bodyPr/>
          <a:lstStyle/>
          <a:p>
            <a:r>
              <a:rPr lang="en-US" dirty="0"/>
              <a:t>Network Intrusion Detection System (NIDS) Module</a:t>
            </a:r>
          </a:p>
        </p:txBody>
      </p:sp>
      <p:sp>
        <p:nvSpPr>
          <p:cNvPr id="4" name="Rectangle 1">
            <a:extLst>
              <a:ext uri="{FF2B5EF4-FFF2-40B4-BE49-F238E27FC236}">
                <a16:creationId xmlns:a16="http://schemas.microsoft.com/office/drawing/2014/main" id="{3DDB2CE0-1B5D-5E3F-A458-18698B03C675}"/>
              </a:ext>
            </a:extLst>
          </p:cNvPr>
          <p:cNvSpPr>
            <a:spLocks noGrp="1" noChangeArrowheads="1"/>
          </p:cNvSpPr>
          <p:nvPr>
            <p:ph idx="1"/>
          </p:nvPr>
        </p:nvSpPr>
        <p:spPr bwMode="auto">
          <a:xfrm>
            <a:off x="241729" y="1859339"/>
            <a:ext cx="1195027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NIDS module identifies suspicious network behavior, traffic anomalies, and known attack signatures within network flow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Acquisition and Preprocessing</a:t>
            </a:r>
            <a:r>
              <a:rPr kumimoji="0" lang="en-US" altLang="en-US" sz="1800" b="0" i="0" u="none" strike="noStrike" cap="none" normalizeH="0" baseline="0" dirty="0">
                <a:ln>
                  <a:noFill/>
                </a:ln>
                <a:solidFill>
                  <a:schemeClr val="tx1"/>
                </a:solidFill>
                <a:effectLst/>
                <a:latin typeface="Arial" panose="020B0604020202020204" pitchFamily="34" charset="0"/>
              </a:rPr>
              <a:t>: The system utilizes benchmark intrusion detection datasets containing labeled examples of benign and malicious traffic. This stage includes cleaning, missing value handling, normalization, and categorical encoding.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Engineering</a:t>
            </a:r>
            <a:r>
              <a:rPr kumimoji="0" lang="en-US" altLang="en-US" sz="1800" b="0" i="0" u="none" strike="noStrike" cap="none" normalizeH="0" baseline="0" dirty="0">
                <a:ln>
                  <a:noFill/>
                </a:ln>
                <a:solidFill>
                  <a:schemeClr val="tx1"/>
                </a:solidFill>
                <a:effectLst/>
                <a:latin typeface="Arial" panose="020B0604020202020204" pitchFamily="34" charset="0"/>
              </a:rPr>
              <a:t>: Intelligent feature selection is prioritized using statistical correlation and importance ranking to identify informative indicators like connection duration and packet rates. This reduces computational complexity compared to deep learning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Ensemble Classification</a:t>
            </a:r>
            <a:r>
              <a:rPr kumimoji="0" lang="en-US" altLang="en-US" sz="1800" b="0" i="0" u="none" strike="noStrike" cap="none" normalizeH="0" baseline="0" dirty="0">
                <a:ln>
                  <a:noFill/>
                </a:ln>
                <a:solidFill>
                  <a:schemeClr val="tx1"/>
                </a:solidFill>
                <a:effectLst/>
                <a:latin typeface="Arial" panose="020B0604020202020204" pitchFamily="34" charset="0"/>
              </a:rPr>
              <a:t>: The detection engine relies on ensemble learning, specifically a </a:t>
            </a:r>
            <a:r>
              <a:rPr kumimoji="0" lang="en-US" altLang="en-US" sz="1800" b="1" i="0" u="none" strike="noStrike" cap="none" normalizeH="0" baseline="0" dirty="0">
                <a:ln>
                  <a:noFill/>
                </a:ln>
                <a:solidFill>
                  <a:schemeClr val="tx1"/>
                </a:solidFill>
                <a:effectLst/>
                <a:latin typeface="Arial" panose="020B0604020202020204" pitchFamily="34" charset="0"/>
              </a:rPr>
              <a:t>Random Forest Classifier</a:t>
            </a:r>
            <a:r>
              <a:rPr kumimoji="0" lang="en-US" altLang="en-US" sz="1800" b="0" i="0" u="none" strike="noStrike" cap="none" normalizeH="0" baseline="0" dirty="0">
                <a:ln>
                  <a:noFill/>
                </a:ln>
                <a:solidFill>
                  <a:schemeClr val="tx1"/>
                </a:solidFill>
                <a:effectLst/>
                <a:latin typeface="Arial" panose="020B0604020202020204" pitchFamily="34" charset="0"/>
              </a:rPr>
              <a:t> trained with 120 estimators, to balance predictive power with interpretability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9748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DEBD-CE2A-D06D-1EF3-BD5A3EF5696F}"/>
              </a:ext>
            </a:extLst>
          </p:cNvPr>
          <p:cNvSpPr>
            <a:spLocks noGrp="1"/>
          </p:cNvSpPr>
          <p:nvPr>
            <p:ph type="title"/>
          </p:nvPr>
        </p:nvSpPr>
        <p:spPr/>
        <p:txBody>
          <a:bodyPr/>
          <a:lstStyle/>
          <a:p>
            <a:r>
              <a:rPr lang="en-US" dirty="0"/>
              <a:t>Lightweight URL Safety Scanner</a:t>
            </a:r>
          </a:p>
        </p:txBody>
      </p:sp>
      <p:sp>
        <p:nvSpPr>
          <p:cNvPr id="4" name="Rectangle 1">
            <a:extLst>
              <a:ext uri="{FF2B5EF4-FFF2-40B4-BE49-F238E27FC236}">
                <a16:creationId xmlns:a16="http://schemas.microsoft.com/office/drawing/2014/main" id="{EF15DBF7-5E31-B8F9-49D0-2D8DDCB6DACA}"/>
              </a:ext>
            </a:extLst>
          </p:cNvPr>
          <p:cNvSpPr>
            <a:spLocks noGrp="1" noChangeArrowheads="1"/>
          </p:cNvSpPr>
          <p:nvPr>
            <p:ph idx="1"/>
          </p:nvPr>
        </p:nvSpPr>
        <p:spPr bwMode="auto">
          <a:xfrm>
            <a:off x="205089" y="1789178"/>
            <a:ext cx="115424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URL scanner serves as a proactive defense layer that detects phishing attempts and malicious links before user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Lexical Feature Extraction</a:t>
            </a:r>
            <a:r>
              <a:rPr kumimoji="0" lang="en-US" altLang="en-US" sz="1800" b="0" i="0" u="none" strike="noStrike" cap="none" normalizeH="0" baseline="0" dirty="0">
                <a:ln>
                  <a:noFill/>
                </a:ln>
                <a:solidFill>
                  <a:schemeClr val="tx1"/>
                </a:solidFill>
                <a:effectLst/>
                <a:latin typeface="Arial" panose="020B0604020202020204" pitchFamily="34" charset="0"/>
              </a:rPr>
              <a:t>: The scanner evaluates URLs using characteristics such as length, token frequency, character entropy, and subdomain counts. This is done without executing web content to maintain speed and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Zero-Day Threat Detection</a:t>
            </a:r>
            <a:r>
              <a:rPr kumimoji="0" lang="en-US" altLang="en-US" sz="1800" b="0" i="0" u="none" strike="noStrike" cap="none" normalizeH="0" baseline="0" dirty="0">
                <a:ln>
                  <a:noFill/>
                </a:ln>
                <a:solidFill>
                  <a:schemeClr val="tx1"/>
                </a:solidFill>
                <a:effectLst/>
                <a:latin typeface="Arial" panose="020B0604020202020204" pitchFamily="34" charset="0"/>
              </a:rPr>
              <a:t>: By recognizing structural and linguistic patterns, the system can identify newly registered or previously unseen malicious domains that are not yet on static blacklists.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Heuristic Scoring</a:t>
            </a:r>
            <a:r>
              <a:rPr kumimoji="0" lang="en-US" altLang="en-US" sz="1800" b="0" i="0" u="none" strike="noStrike" cap="none" normalizeH="0" baseline="0" dirty="0">
                <a:ln>
                  <a:noFill/>
                </a:ln>
                <a:solidFill>
                  <a:schemeClr val="tx1"/>
                </a:solidFill>
                <a:effectLst/>
                <a:latin typeface="Arial" panose="020B0604020202020204" pitchFamily="34" charset="0"/>
              </a:rPr>
              <a:t>: A dynamic scoring engine assigns risk levels—Safe, Suspicious, or High-Risk—based on DNS resolution status and lexical anomalies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865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15E46-6307-8E49-BB8F-4DA628C34021}"/>
              </a:ext>
            </a:extLst>
          </p:cNvPr>
          <p:cNvSpPr>
            <a:spLocks noGrp="1"/>
          </p:cNvSpPr>
          <p:nvPr>
            <p:ph type="title"/>
          </p:nvPr>
        </p:nvSpPr>
        <p:spPr/>
        <p:txBody>
          <a:bodyPr/>
          <a:lstStyle/>
          <a:p>
            <a:r>
              <a:rPr lang="en-US" dirty="0"/>
              <a:t>Integrated Deployment Framework</a:t>
            </a:r>
          </a:p>
        </p:txBody>
      </p:sp>
      <p:sp>
        <p:nvSpPr>
          <p:cNvPr id="4" name="Rectangle 1">
            <a:extLst>
              <a:ext uri="{FF2B5EF4-FFF2-40B4-BE49-F238E27FC236}">
                <a16:creationId xmlns:a16="http://schemas.microsoft.com/office/drawing/2014/main" id="{8B761E10-945D-BAEB-5D9D-1730823B74C1}"/>
              </a:ext>
            </a:extLst>
          </p:cNvPr>
          <p:cNvSpPr>
            <a:spLocks noGrp="1" noChangeArrowheads="1"/>
          </p:cNvSpPr>
          <p:nvPr>
            <p:ph idx="1"/>
          </p:nvPr>
        </p:nvSpPr>
        <p:spPr bwMode="auto">
          <a:xfrm>
            <a:off x="478813" y="2869694"/>
            <a:ext cx="1107818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final stage focuses on transitioning the research from theoretical evaluation to a practical, usable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Unified Interface</a:t>
            </a:r>
            <a:r>
              <a:rPr kumimoji="0" lang="en-US" altLang="en-US" sz="1600" b="0" i="0" u="none" strike="noStrike" cap="none" normalizeH="0" baseline="0" dirty="0">
                <a:ln>
                  <a:noFill/>
                </a:ln>
                <a:solidFill>
                  <a:schemeClr val="tx1"/>
                </a:solidFill>
                <a:effectLst/>
                <a:latin typeface="Arial" panose="020B0604020202020204" pitchFamily="34" charset="0"/>
              </a:rPr>
              <a:t>: Both modules are connected through a centralized </a:t>
            </a:r>
            <a:r>
              <a:rPr kumimoji="0" lang="en-US" altLang="en-US" sz="1600" b="0" i="0" u="none" strike="noStrike" cap="none" normalizeH="0" baseline="0" dirty="0" err="1">
                <a:ln>
                  <a:noFill/>
                </a:ln>
                <a:solidFill>
                  <a:schemeClr val="tx1"/>
                </a:solidFill>
                <a:effectLst/>
                <a:latin typeface="Arial" panose="020B0604020202020204" pitchFamily="34" charset="0"/>
              </a:rPr>
              <a:t>Streamlit</a:t>
            </a:r>
            <a:r>
              <a:rPr kumimoji="0" lang="en-US" altLang="en-US" sz="1600" b="0" i="0" u="none" strike="noStrike" cap="none" normalizeH="0" baseline="0" dirty="0">
                <a:ln>
                  <a:noFill/>
                </a:ln>
                <a:solidFill>
                  <a:schemeClr val="tx1"/>
                </a:solidFill>
                <a:effectLst/>
                <a:latin typeface="Arial" panose="020B0604020202020204" pitchFamily="34" charset="0"/>
              </a:rPr>
              <a:t>-based dashboard that aggregates alerts and risk scores. It supports file-based analysis (CSV, PDF, DOCX) for bulk logs and real-time URL input for live scanning.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Operational Readiness</a:t>
            </a:r>
            <a:r>
              <a:rPr kumimoji="0" lang="en-US" altLang="en-US" sz="1600" b="0" i="0" u="none" strike="noStrike" cap="none" normalizeH="0" baseline="0" dirty="0">
                <a:ln>
                  <a:noFill/>
                </a:ln>
                <a:solidFill>
                  <a:schemeClr val="tx1"/>
                </a:solidFill>
                <a:effectLst/>
                <a:latin typeface="Arial" panose="020B0604020202020204" pitchFamily="34" charset="0"/>
              </a:rPr>
              <a:t>: The architecture is modular, allowing independent updates to the machine learning models or datasets as the threat landscape evolves.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Future Browser Integration</a:t>
            </a:r>
            <a:r>
              <a:rPr kumimoji="0" lang="en-US" altLang="en-US" sz="1600" b="0" i="0" u="none" strike="noStrike" cap="none" normalizeH="0" baseline="0" dirty="0">
                <a:ln>
                  <a:noFill/>
                </a:ln>
                <a:solidFill>
                  <a:schemeClr val="tx1"/>
                </a:solidFill>
                <a:effectLst/>
                <a:latin typeface="Arial" panose="020B0604020202020204" pitchFamily="34" charset="0"/>
              </a:rPr>
              <a:t>: The framework is designed for extension into a live Chrome extension to provide continuous, on-the-fly protection during web browsing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594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BCF6-99C4-430C-610A-53680872AE70}"/>
              </a:ext>
            </a:extLst>
          </p:cNvPr>
          <p:cNvSpPr>
            <a:spLocks noGrp="1"/>
          </p:cNvSpPr>
          <p:nvPr>
            <p:ph type="title"/>
          </p:nvPr>
        </p:nvSpPr>
        <p:spPr/>
        <p:txBody>
          <a:bodyPr/>
          <a:lstStyle/>
          <a:p>
            <a:endParaRPr lang="en-US" dirty="0"/>
          </a:p>
        </p:txBody>
      </p:sp>
      <p:sp>
        <p:nvSpPr>
          <p:cNvPr id="4" name="Rectangle 1">
            <a:extLst>
              <a:ext uri="{FF2B5EF4-FFF2-40B4-BE49-F238E27FC236}">
                <a16:creationId xmlns:a16="http://schemas.microsoft.com/office/drawing/2014/main" id="{7FC418CB-EE9B-C969-83E6-DB85BF29E46F}"/>
              </a:ext>
            </a:extLst>
          </p:cNvPr>
          <p:cNvSpPr>
            <a:spLocks noGrp="1" noChangeArrowheads="1"/>
          </p:cNvSpPr>
          <p:nvPr>
            <p:ph idx="1"/>
          </p:nvPr>
        </p:nvSpPr>
        <p:spPr bwMode="auto">
          <a:xfrm>
            <a:off x="952046" y="1998799"/>
            <a:ext cx="9603275" cy="345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To visualize this process, the flowchart is structured as follows: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Arial" panose="020B0604020202020204" pitchFamily="34" charset="0"/>
              </a:rPr>
              <a:t>Input Layer</a:t>
            </a:r>
            <a:r>
              <a:rPr kumimoji="0" lang="en-US" altLang="en-US" sz="1800" b="0" i="0" u="none" strike="noStrike" cap="none" normalizeH="0" baseline="0">
                <a:ln>
                  <a:noFill/>
                </a:ln>
                <a:solidFill>
                  <a:schemeClr val="tx1"/>
                </a:solidFill>
                <a:effectLst/>
                <a:latin typeface="Arial" panose="020B0604020202020204" pitchFamily="34" charset="0"/>
              </a:rPr>
              <a:t>: Accepts raw Network Traffic logs (CSV) or a specific URL string.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Arial" panose="020B0604020202020204" pitchFamily="34" charset="0"/>
              </a:rPr>
              <a:t>Processing Path A (NIDS)</a:t>
            </a:r>
            <a:r>
              <a:rPr kumimoji="0" lang="en-US" altLang="en-US" sz="18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Preprocessing</a:t>
            </a:r>
            <a:r>
              <a:rPr kumimoji="0" lang="en-US" altLang="en-US" sz="1800" b="0" i="0" u="none" strike="noStrike" cap="none" normalizeH="0" baseline="0">
                <a:ln>
                  <a:noFill/>
                </a:ln>
                <a:solidFill>
                  <a:schemeClr val="tx1"/>
                </a:solidFill>
                <a:effectLst/>
                <a:latin typeface="Arial" panose="020B0604020202020204" pitchFamily="34" charset="0"/>
              </a:rPr>
              <a:t>: Categorical encoding (Protocol, Service, Flag).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Modeling</a:t>
            </a:r>
            <a:r>
              <a:rPr kumimoji="0" lang="en-US" altLang="en-US" sz="1800" b="0" i="0" u="none" strike="noStrike" cap="none" normalizeH="0" baseline="0">
                <a:ln>
                  <a:noFill/>
                </a:ln>
                <a:solidFill>
                  <a:schemeClr val="tx1"/>
                </a:solidFill>
                <a:effectLst/>
                <a:latin typeface="Arial" panose="020B0604020202020204" pitchFamily="34" charset="0"/>
              </a:rPr>
              <a:t>: Random Forest Ensemble classification.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a:ln>
                  <a:noFill/>
                </a:ln>
                <a:solidFill>
                  <a:schemeClr val="tx1"/>
                </a:solidFill>
                <a:effectLst/>
                <a:latin typeface="Arial" panose="020B0604020202020204" pitchFamily="34" charset="0"/>
              </a:rPr>
              <a:t>Processing Path B (URL)</a:t>
            </a:r>
            <a:r>
              <a:rPr kumimoji="0" lang="en-US" altLang="en-US" sz="18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Extraction</a:t>
            </a:r>
            <a:r>
              <a:rPr kumimoji="0" lang="en-US" altLang="en-US" sz="1800" b="0" i="0" u="none" strike="noStrike" cap="none" normalizeH="0" baseline="0">
                <a:ln>
                  <a:noFill/>
                </a:ln>
                <a:solidFill>
                  <a:schemeClr val="tx1"/>
                </a:solidFill>
                <a:effectLst/>
                <a:latin typeface="Arial" panose="020B0604020202020204" pitchFamily="34" charset="0"/>
              </a:rPr>
              <a:t>: Lexical indicator analysis (Entropy, suspicious tokens like 'login' or 'bank').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Verification</a:t>
            </a:r>
            <a:r>
              <a:rPr kumimoji="0" lang="en-US" altLang="en-US" sz="1800" b="0" i="0" u="none" strike="noStrike" cap="none" normalizeH="0" baseline="0">
                <a:ln>
                  <a:noFill/>
                </a:ln>
                <a:solidFill>
                  <a:schemeClr val="tx1"/>
                </a:solidFill>
                <a:effectLst/>
                <a:latin typeface="Arial" panose="020B0604020202020204" pitchFamily="34" charset="0"/>
              </a:rPr>
              <a:t>: DNS resolution check.</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a:ln>
                  <a:noFill/>
                </a:ln>
                <a:solidFill>
                  <a:schemeClr val="tx1"/>
                </a:solidFill>
                <a:effectLst/>
                <a:latin typeface="Arial" panose="020B0604020202020204" pitchFamily="34" charset="0"/>
              </a:rPr>
              <a:t>Decision Layer</a:t>
            </a:r>
            <a:r>
              <a:rPr kumimoji="0" lang="en-US" altLang="en-US" sz="1800" b="0" i="0" u="none" strike="noStrike" cap="none" normalizeH="0" baseline="0">
                <a:ln>
                  <a:noFill/>
                </a:ln>
                <a:solidFill>
                  <a:schemeClr val="tx1"/>
                </a:solidFill>
                <a:effectLst/>
                <a:latin typeface="Arial" panose="020B0604020202020204" pitchFamily="34" charset="0"/>
              </a:rPr>
              <a:t>: Weighted scoring and verdict generation (Safe, Suspicious, High-Risk).</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a:ln>
                  <a:noFill/>
                </a:ln>
                <a:solidFill>
                  <a:schemeClr val="tx1"/>
                </a:solidFill>
                <a:effectLst/>
                <a:latin typeface="Arial" panose="020B0604020202020204" pitchFamily="34" charset="0"/>
              </a:rPr>
              <a:t>Output Layer</a:t>
            </a:r>
            <a:r>
              <a:rPr kumimoji="0" lang="en-US" altLang="en-US" sz="1800" b="0" i="0" u="none" strike="noStrike" cap="none" normalizeH="0" baseline="0">
                <a:ln>
                  <a:noFill/>
                </a:ln>
                <a:solidFill>
                  <a:schemeClr val="tx1"/>
                </a:solidFill>
                <a:effectLst/>
                <a:latin typeface="Arial" panose="020B0604020202020204" pitchFamily="34" charset="0"/>
              </a:rPr>
              <a:t>: Interactive Streamlit Dashboard displaying real-time alerts and detection tables.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686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 </a:t>
            </a:r>
          </a:p>
        </p:txBody>
      </p:sp>
      <p:graphicFrame>
        <p:nvGraphicFramePr>
          <p:cNvPr id="4" name="Table 3">
            <a:extLst>
              <a:ext uri="{FF2B5EF4-FFF2-40B4-BE49-F238E27FC236}">
                <a16:creationId xmlns:a16="http://schemas.microsoft.com/office/drawing/2014/main" id="{89CCC876-69DC-DE32-42B4-EB93B9316362}"/>
              </a:ext>
            </a:extLst>
          </p:cNvPr>
          <p:cNvGraphicFramePr>
            <a:graphicFrameLocks noGrp="1"/>
          </p:cNvGraphicFramePr>
          <p:nvPr>
            <p:extLst>
              <p:ext uri="{D42A27DB-BD31-4B8C-83A1-F6EECF244321}">
                <p14:modId xmlns:p14="http://schemas.microsoft.com/office/powerpoint/2010/main" val="1847753771"/>
              </p:ext>
            </p:extLst>
          </p:nvPr>
        </p:nvGraphicFramePr>
        <p:xfrm>
          <a:off x="1262994" y="3097265"/>
          <a:ext cx="5918200" cy="144399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631759064"/>
                    </a:ext>
                  </a:extLst>
                </a:gridCol>
                <a:gridCol w="1464945">
                  <a:extLst>
                    <a:ext uri="{9D8B030D-6E8A-4147-A177-3AD203B41FA5}">
                      <a16:colId xmlns:a16="http://schemas.microsoft.com/office/drawing/2014/main" val="3623589459"/>
                    </a:ext>
                  </a:extLst>
                </a:gridCol>
                <a:gridCol w="1464310">
                  <a:extLst>
                    <a:ext uri="{9D8B030D-6E8A-4147-A177-3AD203B41FA5}">
                      <a16:colId xmlns:a16="http://schemas.microsoft.com/office/drawing/2014/main" val="3285908673"/>
                    </a:ext>
                  </a:extLst>
                </a:gridCol>
                <a:gridCol w="1525905">
                  <a:extLst>
                    <a:ext uri="{9D8B030D-6E8A-4147-A177-3AD203B41FA5}">
                      <a16:colId xmlns:a16="http://schemas.microsoft.com/office/drawing/2014/main" val="578879215"/>
                    </a:ext>
                  </a:extLst>
                </a:gridCol>
              </a:tblGrid>
              <a:tr h="285750">
                <a:tc>
                  <a:txBody>
                    <a:bodyPr/>
                    <a:lstStyle/>
                    <a:p>
                      <a:pPr marL="0" marR="0" algn="just">
                        <a:buNone/>
                      </a:pPr>
                      <a:r>
                        <a:rPr lang="en-IN" sz="1100">
                          <a:effectLst/>
                        </a:rPr>
                        <a:t>METRIC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NORMAL TRAFFIC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ATTACK TRAFFIC</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OVERALL/MACRO</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10525882"/>
                  </a:ext>
                </a:extLst>
              </a:tr>
              <a:tr h="285750">
                <a:tc>
                  <a:txBody>
                    <a:bodyPr/>
                    <a:lstStyle/>
                    <a:p>
                      <a:pPr marL="0" marR="0" algn="just">
                        <a:buNone/>
                      </a:pPr>
                      <a:r>
                        <a:rPr lang="en-IN" sz="1100">
                          <a:effectLst/>
                        </a:rPr>
                        <a:t>ACCURACY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0.8256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5955940"/>
                  </a:ext>
                </a:extLst>
              </a:tr>
              <a:tr h="285750">
                <a:tc>
                  <a:txBody>
                    <a:bodyPr/>
                    <a:lstStyle/>
                    <a:p>
                      <a:pPr marL="0" marR="0" algn="just">
                        <a:buNone/>
                      </a:pPr>
                      <a:r>
                        <a:rPr lang="en-IN" sz="1100">
                          <a:effectLst/>
                        </a:rPr>
                        <a:t>PRECISION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0.8490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0.7984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0.8237</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5086862"/>
                  </a:ext>
                </a:extLst>
              </a:tr>
              <a:tr h="293370">
                <a:tc>
                  <a:txBody>
                    <a:bodyPr/>
                    <a:lstStyle/>
                    <a:p>
                      <a:pPr marL="0" marR="0" algn="just">
                        <a:buNone/>
                      </a:pPr>
                      <a:r>
                        <a:rPr lang="en-IN" sz="1100">
                          <a:effectLst/>
                        </a:rPr>
                        <a:t>RECALL</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0.8524</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dirty="0">
                          <a:effectLst/>
                        </a:rPr>
                        <a:t>0.7947</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0.8236</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5778822"/>
                  </a:ext>
                </a:extLst>
              </a:tr>
              <a:tr h="293370">
                <a:tc>
                  <a:txBody>
                    <a:bodyPr/>
                    <a:lstStyle/>
                    <a:p>
                      <a:pPr marL="0" marR="0" algn="just">
                        <a:buNone/>
                      </a:pPr>
                      <a:r>
                        <a:rPr lang="en-IN" sz="1100">
                          <a:effectLst/>
                        </a:rPr>
                        <a:t>F1-SCORE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dirty="0">
                          <a:effectLst/>
                        </a:rPr>
                        <a:t>0.8507</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a:effectLst/>
                        </a:rPr>
                        <a:t>0.7965</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buNone/>
                      </a:pPr>
                      <a:r>
                        <a:rPr lang="en-IN" sz="1100" dirty="0">
                          <a:effectLst/>
                        </a:rPr>
                        <a:t>0.8236</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0967480"/>
                  </a:ext>
                </a:extLst>
              </a:tr>
            </a:tbl>
          </a:graphicData>
        </a:graphic>
      </p:graphicFrame>
      <p:sp>
        <p:nvSpPr>
          <p:cNvPr id="5" name="Rectangle 1">
            <a:extLst>
              <a:ext uri="{FF2B5EF4-FFF2-40B4-BE49-F238E27FC236}">
                <a16:creationId xmlns:a16="http://schemas.microsoft.com/office/drawing/2014/main" id="{B7D6471A-9D6C-7824-3A04-A92EA826B1E9}"/>
              </a:ext>
            </a:extLst>
          </p:cNvPr>
          <p:cNvSpPr>
            <a:spLocks noChangeArrowheads="1"/>
          </p:cNvSpPr>
          <p:nvPr/>
        </p:nvSpPr>
        <p:spPr bwMode="auto">
          <a:xfrm>
            <a:off x="1262994" y="1913362"/>
            <a:ext cx="83357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1. NIDS Performance Metrics</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system achieves robust detection of network intrusions. The following metrics were derived from testing the model against the KDDTest+.txt dataset: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Key Finding:</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The model shows a balanced ability to identify both normal and attack traffic, with an F1-score of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0.85 for normal</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0.79 for attack</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packets, proving it is effective for real-world traffic classification.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a:extLst>
              <a:ext uri="{FF2B5EF4-FFF2-40B4-BE49-F238E27FC236}">
                <a16:creationId xmlns:a16="http://schemas.microsoft.com/office/drawing/2014/main" id="{CC14CB86-4FCA-2E05-1BC6-9E48C99043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41450" y="2875981"/>
            <a:ext cx="3150767" cy="2848970"/>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normAutofit/>
          </a:bodyPr>
          <a:lstStyle/>
          <a:p>
            <a:pPr marL="0" indent="0">
              <a:buNone/>
            </a:pPr>
            <a:endParaRPr lang="en-US" dirty="0"/>
          </a:p>
          <a:p>
            <a:r>
              <a:rPr lang="en-US" dirty="0"/>
              <a:t>Research Paper (Drafted)</a:t>
            </a:r>
          </a:p>
          <a:p>
            <a:r>
              <a:rPr lang="en-US" dirty="0"/>
              <a:t>Real Time Deployment ( partially completed)</a:t>
            </a:r>
          </a:p>
        </p:txBody>
      </p:sp>
    </p:spTree>
    <p:extLst>
      <p:ext uri="{BB962C8B-B14F-4D97-AF65-F5344CB8AC3E}">
        <p14:creationId xmlns:p14="http://schemas.microsoft.com/office/powerpoint/2010/main" val="2154956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47787526-26C5-CCBC-ECCA-5EC0288549FC}"/>
              </a:ext>
            </a:extLst>
          </p:cNvPr>
          <p:cNvSpPr>
            <a:spLocks noChangeArrowheads="1"/>
          </p:cNvSpPr>
          <p:nvPr/>
        </p:nvSpPr>
        <p:spPr bwMode="auto">
          <a:xfrm>
            <a:off x="77841" y="2312917"/>
            <a:ext cx="1235075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defTabSz="914400" eaLnBrk="0" fontAlgn="base" hangingPunct="0">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[1] A. L. Buczak and E. Guven</a:t>
            </a:r>
            <a:r>
              <a:rPr kumimoji="0" lang="en-US" altLang="en-US" sz="1600" b="0" i="0" u="none" strike="noStrike" cap="none" normalizeH="0" baseline="0" dirty="0">
                <a:ln>
                  <a:noFill/>
                </a:ln>
                <a:solidFill>
                  <a:schemeClr val="tx1"/>
                </a:solidFill>
                <a:effectLst/>
                <a:latin typeface="Arial" panose="020B0604020202020204" pitchFamily="34" charset="0"/>
              </a:rPr>
              <a:t>, “A Survey of Data Mining and Machine Learning Methods for Cyber Security Intrusion Detection,” </a:t>
            </a:r>
            <a:r>
              <a:rPr kumimoji="0" lang="en-US" altLang="en-US" sz="1600" b="0" i="1" u="none" strike="noStrike" cap="none" normalizeH="0" baseline="0" dirty="0">
                <a:ln>
                  <a:noFill/>
                </a:ln>
                <a:solidFill>
                  <a:schemeClr val="tx1"/>
                </a:solidFill>
                <a:effectLst/>
                <a:latin typeface="Arial" panose="020B0604020202020204" pitchFamily="34" charset="0"/>
              </a:rPr>
              <a:t>IEEE Communications Surveys &amp; Tutorials</a:t>
            </a:r>
            <a:r>
              <a:rPr kumimoji="0" lang="en-US" altLang="en-US" sz="1600" b="0" i="0" u="none" strike="noStrike" cap="none" normalizeH="0" baseline="0" dirty="0">
                <a:ln>
                  <a:noFill/>
                </a:ln>
                <a:solidFill>
                  <a:schemeClr val="tx1"/>
                </a:solidFill>
                <a:effectLst/>
                <a:latin typeface="Arial" panose="020B0604020202020204" pitchFamily="34" charset="0"/>
              </a:rPr>
              <a:t>, vol. 18, no. 2, pp. 1153–1176, 2016.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[2] P. Mishra et al.</a:t>
            </a:r>
            <a:r>
              <a:rPr kumimoji="0" lang="en-US" altLang="en-US" sz="1600" b="0" i="0" u="none" strike="noStrike" cap="none" normalizeH="0" baseline="0" dirty="0">
                <a:ln>
                  <a:noFill/>
                </a:ln>
                <a:solidFill>
                  <a:schemeClr val="tx1"/>
                </a:solidFill>
                <a:effectLst/>
                <a:latin typeface="Arial" panose="020B0604020202020204" pitchFamily="34" charset="0"/>
              </a:rPr>
              <a:t>, “A Detailed Investigation and Analysis of Using Machine Learning Techniques for Intrusion Detection,” </a:t>
            </a:r>
            <a:r>
              <a:rPr kumimoji="0" lang="en-US" altLang="en-US" sz="1600" b="0" i="1" u="none" strike="noStrike" cap="none" normalizeH="0" baseline="0" dirty="0">
                <a:ln>
                  <a:noFill/>
                </a:ln>
                <a:solidFill>
                  <a:schemeClr val="tx1"/>
                </a:solidFill>
                <a:effectLst/>
                <a:latin typeface="Arial" panose="020B0604020202020204" pitchFamily="34" charset="0"/>
              </a:rPr>
              <a:t>IEEE Communications Surveys &amp; Tutorials</a:t>
            </a:r>
            <a:r>
              <a:rPr kumimoji="0" lang="en-US" altLang="en-US" sz="1600" b="0" i="0" u="none" strike="noStrike" cap="none" normalizeH="0" baseline="0" dirty="0">
                <a:ln>
                  <a:noFill/>
                </a:ln>
                <a:solidFill>
                  <a:schemeClr val="tx1"/>
                </a:solidFill>
                <a:effectLst/>
                <a:latin typeface="Arial" panose="020B0604020202020204" pitchFamily="34" charset="0"/>
              </a:rPr>
              <a:t>, vol. 21, no. 1, pp. 686–728,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[3] A. </a:t>
            </a:r>
            <a:r>
              <a:rPr kumimoji="0" lang="en-US" altLang="en-US" sz="1600" b="1" i="0" u="none" strike="noStrike" cap="none" normalizeH="0" baseline="0" dirty="0" err="1">
                <a:ln>
                  <a:noFill/>
                </a:ln>
                <a:solidFill>
                  <a:schemeClr val="tx1"/>
                </a:solidFill>
                <a:effectLst/>
                <a:latin typeface="Arial" panose="020B0604020202020204" pitchFamily="34" charset="0"/>
              </a:rPr>
              <a:t>Khraisat</a:t>
            </a:r>
            <a:r>
              <a:rPr kumimoji="0" lang="en-US" altLang="en-US" sz="1600" b="1" i="0" u="none" strike="noStrike" cap="none" normalizeH="0" baseline="0" dirty="0">
                <a:ln>
                  <a:noFill/>
                </a:ln>
                <a:solidFill>
                  <a:schemeClr val="tx1"/>
                </a:solidFill>
                <a:effectLst/>
                <a:latin typeface="Arial" panose="020B0604020202020204" pitchFamily="34" charset="0"/>
              </a:rPr>
              <a:t> et al.</a:t>
            </a:r>
            <a:r>
              <a:rPr kumimoji="0" lang="en-US" altLang="en-US" sz="1600" b="0" i="0" u="none" strike="noStrike" cap="none" normalizeH="0" baseline="0" dirty="0">
                <a:ln>
                  <a:noFill/>
                </a:ln>
                <a:solidFill>
                  <a:schemeClr val="tx1"/>
                </a:solidFill>
                <a:effectLst/>
                <a:latin typeface="Arial" panose="020B0604020202020204" pitchFamily="34" charset="0"/>
              </a:rPr>
              <a:t>, “Survey of Intrusion Detection Systems: Techniques, Datasets and Challenges,” </a:t>
            </a:r>
            <a:r>
              <a:rPr kumimoji="0" lang="en-US" altLang="en-US" sz="1600" b="0" i="1" u="none" strike="noStrike" cap="none" normalizeH="0" baseline="0" dirty="0">
                <a:ln>
                  <a:noFill/>
                </a:ln>
                <a:solidFill>
                  <a:schemeClr val="tx1"/>
                </a:solidFill>
                <a:effectLst/>
                <a:latin typeface="Arial" panose="020B0604020202020204" pitchFamily="34" charset="0"/>
              </a:rPr>
              <a:t>Cybersecurity</a:t>
            </a:r>
            <a:r>
              <a:rPr kumimoji="0" lang="en-US" altLang="en-US" sz="1600" b="0" i="0" u="none" strike="noStrike" cap="none" normalizeH="0" baseline="0" dirty="0">
                <a:ln>
                  <a:noFill/>
                </a:ln>
                <a:solidFill>
                  <a:schemeClr val="tx1"/>
                </a:solidFill>
                <a:effectLst/>
                <a:latin typeface="Arial" panose="020B0604020202020204" pitchFamily="34" charset="0"/>
              </a:rPr>
              <a:t>, vol. 2, no. 1, pp. 1–22, 2019</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10A2F75-32E6-95CC-28A5-BBA4B9CE7451}"/>
              </a:ext>
            </a:extLst>
          </p:cNvPr>
          <p:cNvSpPr>
            <a:spLocks noChangeArrowheads="1"/>
          </p:cNvSpPr>
          <p:nvPr/>
        </p:nvSpPr>
        <p:spPr bwMode="auto">
          <a:xfrm>
            <a:off x="1" y="3764058"/>
            <a:ext cx="1204120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[4] A. Joshi et al.</a:t>
            </a:r>
            <a:r>
              <a:rPr kumimoji="0" lang="en-US" altLang="en-US" sz="1400" b="0" i="0" u="none" strike="noStrike" cap="none" normalizeH="0" baseline="0" dirty="0">
                <a:ln>
                  <a:noFill/>
                </a:ln>
                <a:solidFill>
                  <a:schemeClr val="tx1"/>
                </a:solidFill>
                <a:effectLst/>
                <a:latin typeface="Arial" panose="020B0604020202020204" pitchFamily="34" charset="0"/>
              </a:rPr>
              <a:t>, “Using Lexical Features for Malicious URL Detection—A Machine Learning Approach,” </a:t>
            </a:r>
            <a:r>
              <a:rPr kumimoji="0" lang="en-US" altLang="en-US" sz="1400" b="0" i="1" u="none" strike="noStrike" cap="none" normalizeH="0" baseline="0" dirty="0">
                <a:ln>
                  <a:noFill/>
                </a:ln>
                <a:solidFill>
                  <a:schemeClr val="tx1"/>
                </a:solidFill>
                <a:effectLst/>
                <a:latin typeface="Arial" panose="020B0604020202020204" pitchFamily="34" charset="0"/>
              </a:rPr>
              <a:t>FireEye</a:t>
            </a:r>
            <a:r>
              <a:rPr kumimoji="0" lang="en-US" altLang="en-US" sz="1400" b="0" i="0" u="none" strike="noStrike" cap="none" normalizeH="0" baseline="0" dirty="0">
                <a:ln>
                  <a:noFill/>
                </a:ln>
                <a:solidFill>
                  <a:schemeClr val="tx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[5] D. Sahoo, C. Liu, and S. C. H. Hoi</a:t>
            </a:r>
            <a:r>
              <a:rPr kumimoji="0" lang="en-US" altLang="en-US" sz="1400" b="0" i="0" u="none" strike="noStrike" cap="none" normalizeH="0" baseline="0" dirty="0">
                <a:ln>
                  <a:noFill/>
                </a:ln>
                <a:solidFill>
                  <a:schemeClr val="tx1"/>
                </a:solidFill>
                <a:effectLst/>
                <a:latin typeface="Arial" panose="020B0604020202020204" pitchFamily="34" charset="0"/>
              </a:rPr>
              <a:t>, “Malicious URL Detection Using Machine Learning: A Survey,” </a:t>
            </a:r>
            <a:r>
              <a:rPr kumimoji="0" lang="en-US" altLang="en-US" sz="1400" b="0" i="1" u="none" strike="noStrike" cap="none" normalizeH="0" baseline="0" dirty="0">
                <a:ln>
                  <a:noFill/>
                </a:ln>
                <a:solidFill>
                  <a:schemeClr val="tx1"/>
                </a:solidFill>
                <a:effectLst/>
                <a:latin typeface="Arial" panose="020B0604020202020204" pitchFamily="34" charset="0"/>
              </a:rPr>
              <a:t>ACM Computing Surveys</a:t>
            </a:r>
            <a:r>
              <a:rPr kumimoji="0" lang="en-US" altLang="en-US" sz="1400" b="0" i="0" u="none" strike="noStrike" cap="none" normalizeH="0" baseline="0" dirty="0">
                <a:ln>
                  <a:noFill/>
                </a:ln>
                <a:solidFill>
                  <a:schemeClr val="tx1"/>
                </a:solidFill>
                <a:effectLst/>
                <a:latin typeface="Arial" panose="020B0604020202020204" pitchFamily="34" charset="0"/>
              </a:rPr>
              <a:t>, vol. 50, no. 3, pp. 1–36, 2017.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[6] F. </a:t>
            </a:r>
            <a:r>
              <a:rPr kumimoji="0" lang="en-US" altLang="en-US" sz="1400" b="1" i="0" u="none" strike="noStrike" cap="none" normalizeH="0" baseline="0" dirty="0" err="1">
                <a:ln>
                  <a:noFill/>
                </a:ln>
                <a:solidFill>
                  <a:schemeClr val="tx1"/>
                </a:solidFill>
                <a:effectLst/>
                <a:latin typeface="Arial" panose="020B0604020202020204" pitchFamily="34" charset="0"/>
              </a:rPr>
              <a:t>Vanhoenshoven</a:t>
            </a:r>
            <a:r>
              <a:rPr kumimoji="0" lang="en-US" altLang="en-US" sz="1400" b="1" i="0" u="none" strike="noStrike" cap="none" normalizeH="0" baseline="0" dirty="0">
                <a:ln>
                  <a:noFill/>
                </a:ln>
                <a:solidFill>
                  <a:schemeClr val="tx1"/>
                </a:solidFill>
                <a:effectLst/>
                <a:latin typeface="Arial" panose="020B0604020202020204" pitchFamily="34" charset="0"/>
              </a:rPr>
              <a:t> et al.</a:t>
            </a:r>
            <a:r>
              <a:rPr kumimoji="0" lang="en-US" altLang="en-US" sz="1400" b="0" i="0" u="none" strike="noStrike" cap="none" normalizeH="0" baseline="0" dirty="0">
                <a:ln>
                  <a:noFill/>
                </a:ln>
                <a:solidFill>
                  <a:schemeClr val="tx1"/>
                </a:solidFill>
                <a:effectLst/>
                <a:latin typeface="Arial" panose="020B0604020202020204" pitchFamily="34" charset="0"/>
              </a:rPr>
              <a:t>, “Detecting Malicious URLs Using Machine Learning Techniques,” in Proc. IEEE Symp. Series </a:t>
            </a:r>
            <a:r>
              <a:rPr kumimoji="0" lang="en-US" altLang="en-US" sz="1400" b="0" i="0" u="none" strike="noStrike" cap="none" normalizeH="0" baseline="0" dirty="0" err="1">
                <a:ln>
                  <a:noFill/>
                </a:ln>
                <a:solidFill>
                  <a:schemeClr val="tx1"/>
                </a:solidFill>
                <a:effectLst/>
                <a:latin typeface="Arial" panose="020B0604020202020204" pitchFamily="34" charset="0"/>
              </a:rPr>
              <a:t>Comput</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Intell</a:t>
            </a:r>
            <a:r>
              <a:rPr kumimoji="0" lang="en-US" altLang="en-US" sz="1400" b="0" i="0" u="none" strike="noStrike" cap="none" normalizeH="0" baseline="0" dirty="0">
                <a:ln>
                  <a:noFill/>
                </a:ln>
                <a:solidFill>
                  <a:schemeClr val="tx1"/>
                </a:solidFill>
                <a:effectLst/>
                <a:latin typeface="Arial" panose="020B0604020202020204" pitchFamily="34" charset="0"/>
              </a:rPr>
              <a:t>. (SSCI), 2016, pp. 1–8</a:t>
            </a:r>
          </a:p>
        </p:txBody>
      </p:sp>
    </p:spTree>
    <p:extLst>
      <p:ext uri="{BB962C8B-B14F-4D97-AF65-F5344CB8AC3E}">
        <p14:creationId xmlns:p14="http://schemas.microsoft.com/office/powerpoint/2010/main" val="272491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98</TotalTime>
  <Words>1797</Words>
  <Application>Microsoft Office PowerPoint</Application>
  <PresentationFormat>Widescreen</PresentationFormat>
  <Paragraphs>102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Gill Sans MT</vt:lpstr>
      <vt:lpstr>Platypi Medium</vt:lpstr>
      <vt:lpstr>Wingdings</vt:lpstr>
      <vt:lpstr>Gallery</vt:lpstr>
      <vt:lpstr>Intrusion Detection and Prevention System (IDPS)</vt:lpstr>
      <vt:lpstr>Outline</vt:lpstr>
      <vt:lpstr>Introduction</vt:lpstr>
      <vt:lpstr>Our Approach: A Unified, Hybrid Defense</vt:lpstr>
      <vt:lpstr>Literature Review</vt:lpstr>
      <vt:lpstr>PowerPoint Presentation</vt:lpstr>
      <vt:lpstr>Problem Statement</vt:lpstr>
      <vt:lpstr>Objectives</vt:lpstr>
      <vt:lpstr>Proposed Methodology </vt:lpstr>
      <vt:lpstr>Network Intrusion Detection System (NIDS) Module</vt:lpstr>
      <vt:lpstr>Lightweight URL Safety Scanner</vt:lpstr>
      <vt:lpstr>Integrated Deployment Framework</vt:lpstr>
      <vt:lpstr>PowerPoint Presentation</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Anmol Sikka</cp:lastModifiedBy>
  <cp:revision>10</cp:revision>
  <dcterms:created xsi:type="dcterms:W3CDTF">2025-09-29T05:03:41Z</dcterms:created>
  <dcterms:modified xsi:type="dcterms:W3CDTF">2026-02-14T19:09:57Z</dcterms:modified>
</cp:coreProperties>
</file>